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96" autoAdjust="0"/>
  </p:normalViewPr>
  <p:slideViewPr>
    <p:cSldViewPr snapToGrid="0" snapToObject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432262"/>
            <a:ext cx="1508760" cy="418130"/>
          </a:xfrm>
          <a:prstGeom prst="roundRect">
            <a:avLst/>
          </a:prstGeom>
          <a:solidFill>
            <a:srgbClr val="090F1B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9" y="502920"/>
            <a:ext cx="14173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37D3FF"/>
                </a:solidFill>
                <a:latin typeface="Aptos"/>
              </a:rPr>
              <a:t>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772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3F7FC"/>
                </a:solidFill>
                <a:latin typeface="Aptos"/>
              </a:rPr>
              <a:t>Cyber Fraud
Network Analyser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A6B7CD"/>
                </a:solidFill>
                <a:latin typeface="Aptos"/>
              </a:rPr>
              <a:t>Fragmented intelligence → connected, explainable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6636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7FC"/>
                </a:solidFill>
                <a:latin typeface="Aptos"/>
              </a:rPr>
              <a:t>Team Cipher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59552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A6B7CD"/>
                </a:solidFill>
                <a:latin typeface="Aptos"/>
              </a:rPr>
              <a:t>Preetansh</a:t>
            </a:r>
            <a:r>
              <a:rPr sz="1500" b="0" dirty="0">
                <a:solidFill>
                  <a:srgbClr val="A6B7CD"/>
                </a:solidFill>
                <a:latin typeface="Aptos"/>
              </a:rPr>
              <a:t> Gohil  •  Jwalan  •  Harshit  •  Vaibhav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024128"/>
            <a:ext cx="2560320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13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0" y="1303353"/>
            <a:ext cx="868680" cy="475488"/>
          </a:xfrm>
          <a:prstGeom prst="roundRect">
            <a:avLst/>
          </a:prstGeom>
          <a:solidFill>
            <a:srgbClr val="1926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81744" y="1344168"/>
            <a:ext cx="7589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KINGPIN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2148840"/>
            <a:ext cx="868680" cy="475488"/>
          </a:xfrm>
          <a:prstGeom prst="roundRect">
            <a:avLst/>
          </a:prstGeom>
          <a:solidFill>
            <a:srgbClr val="19263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33304" y="2185416"/>
            <a:ext cx="7589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MULE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926080"/>
            <a:ext cx="868680" cy="475488"/>
          </a:xfrm>
          <a:prstGeom prst="roundRect">
            <a:avLst/>
          </a:prstGeom>
          <a:solidFill>
            <a:srgbClr val="19263B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3040713"/>
            <a:ext cx="85953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3429000"/>
            <a:ext cx="868680" cy="475488"/>
          </a:xfrm>
          <a:prstGeom prst="roundRect">
            <a:avLst/>
          </a:prstGeom>
          <a:solidFill>
            <a:srgbClr val="1926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16184" y="3465576"/>
            <a:ext cx="7589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VICTIM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4251960"/>
            <a:ext cx="868680" cy="475488"/>
          </a:xfrm>
          <a:prstGeom prst="roundRect">
            <a:avLst/>
          </a:prstGeom>
          <a:solidFill>
            <a:srgbClr val="1926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93224" y="4288536"/>
            <a:ext cx="7589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DEVICE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" y="1783080"/>
            <a:ext cx="640080" cy="365760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582912" y="1783080"/>
            <a:ext cx="155448" cy="1143000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78440" y="2624328"/>
            <a:ext cx="548640" cy="804672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82912" y="3401568"/>
            <a:ext cx="429768" cy="850392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607040" y="3904487"/>
            <a:ext cx="320040" cy="347473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Fraud intelligence exists — but the relationships are fragmented.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015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69164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D3FF"/>
                </a:solidFill>
                <a:latin typeface="Aptos"/>
              </a:rPr>
              <a:t>FRAGMENTED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Transactions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Call logs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Phone numbers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Device IDs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Suspect / victim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417320"/>
            <a:ext cx="34015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BB040"/>
                </a:solidFill>
                <a:latin typeface="Aptos"/>
              </a:rPr>
              <a:t>HIDDEN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Who connects to whom?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How did money move?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Which devices/accounts recur?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What pattern was used?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3" y="1417320"/>
            <a:ext cx="34015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169164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INVESTIGATIVE BURDEN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331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Manual correlation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Role reconstruction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Pattern identification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t>• Actionable case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Core gap: isolated records can hide the network behind the fraud.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A Bob-powered investigation pipeline that turns raw intelligence into a connected case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54480"/>
            <a:ext cx="2514600" cy="3977639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783080"/>
            <a:ext cx="2286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D3FF"/>
                </a:solidFill>
                <a:latin typeface="Aptos"/>
              </a:rPr>
              <a:t>RAW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2148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CSV / free-text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Transactions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Calls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Devices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Suspects + victims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53512" y="3520440"/>
            <a:ext cx="338328" cy="0"/>
          </a:xfrm>
          <a:prstGeom prst="line">
            <a:avLst/>
          </a:prstGeom>
          <a:ln w="25400">
            <a:solidFill>
              <a:srgbClr val="3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1554480"/>
            <a:ext cx="2514600" cy="3977639"/>
          </a:xfrm>
          <a:prstGeom prst="roundRect">
            <a:avLst/>
          </a:prstGeom>
          <a:solidFill>
            <a:srgbClr val="131C2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7288" y="1783080"/>
            <a:ext cx="2286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Aptos"/>
              </a:rPr>
              <a:t>EXTRACT &amp; CORRELATE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2148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Entities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Relationships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Money flow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Communication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t>• Shared devices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3520440"/>
            <a:ext cx="338328" cy="0"/>
          </a:xfrm>
          <a:prstGeom prst="line">
            <a:avLst/>
          </a:prstGeom>
          <a:ln w="25400">
            <a:solidFill>
              <a:srgbClr val="3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554480"/>
            <a:ext cx="2514600" cy="3977639"/>
          </a:xfrm>
          <a:prstGeom prst="roundRect">
            <a:avLst/>
          </a:prstGeom>
          <a:solidFill>
            <a:srgbClr val="131C2C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2286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BB040"/>
                </a:solidFill>
                <a:latin typeface="Aptos"/>
              </a:rP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2148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Fraud patterns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Probable roles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Hierarchy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Risk-ranked graph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5672" y="3520440"/>
            <a:ext cx="338328" cy="0"/>
          </a:xfrm>
          <a:prstGeom prst="line">
            <a:avLst/>
          </a:prstGeom>
          <a:ln w="25400">
            <a:solidFill>
              <a:srgbClr val="3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1554480"/>
            <a:ext cx="2514600" cy="3977639"/>
          </a:xfrm>
          <a:prstGeom prst="roundRect">
            <a:avLst/>
          </a:prstGeom>
          <a:solidFill>
            <a:srgbClr val="131C2C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9448" y="1783080"/>
            <a:ext cx="2286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Aptos"/>
              </a:rPr>
              <a:t>INVESTIGATION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560320"/>
            <a:ext cx="2148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Interactive HTML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FIR-ready brief</a:t>
            </a:r>
          </a:p>
          <a:p>
            <a:pPr>
              <a:spcAft>
                <a:spcPts val="9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Recommended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5779008"/>
            <a:ext cx="2926080" cy="347472"/>
          </a:xfrm>
          <a:prstGeom prst="roundRect">
            <a:avLst/>
          </a:prstGeom>
          <a:solidFill>
            <a:srgbClr val="090F1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580644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ONE INVESTIGATION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1722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B7CD"/>
                </a:solidFill>
                <a:latin typeface="Aptos"/>
              </a:rPr>
              <a:t>Connect the evidence before interpreting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Implemented as a self-contained Python pipeline with a browser-based network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453896"/>
            <a:ext cx="393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399032"/>
            <a:ext cx="2743200" cy="566928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1472184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D3FF"/>
                </a:solidFill>
                <a:latin typeface="Apto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72184"/>
            <a:ext cx="1463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3F7FC"/>
                </a:solidFill>
                <a:latin typeface="Aptos"/>
              </a:rPr>
              <a:t>Case files + CSV + 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" y="1929384"/>
            <a:ext cx="0" cy="402336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331720"/>
            <a:ext cx="50292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368296"/>
            <a:ext cx="393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313432"/>
            <a:ext cx="2743200" cy="566928"/>
          </a:xfrm>
          <a:prstGeom prst="roundRect">
            <a:avLst/>
          </a:prstGeom>
          <a:solidFill>
            <a:srgbClr val="131C2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45336" y="243729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A78BFA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68296"/>
            <a:ext cx="108813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F3F7FC"/>
                </a:solidFill>
                <a:latin typeface="Aptos"/>
              </a:rPr>
              <a:t>Entities + relations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2" y="2843784"/>
            <a:ext cx="0" cy="402336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246120"/>
            <a:ext cx="50292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3282696"/>
            <a:ext cx="393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227832"/>
            <a:ext cx="2743200" cy="566928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dirty="0">
                <a:solidFill>
                  <a:srgbClr val="F3F7FC"/>
                </a:solidFill>
                <a:latin typeface="Aptos"/>
              </a:rPr>
              <a:t>	</a:t>
            </a:r>
          </a:p>
          <a:p>
            <a:pPr algn="r"/>
            <a:endParaRPr lang="en-IN" sz="1400" dirty="0">
              <a:solidFill>
                <a:srgbClr val="F3F7FC"/>
              </a:solidFill>
              <a:latin typeface="Aptos"/>
            </a:endParaRPr>
          </a:p>
          <a:p>
            <a:pPr algn="r"/>
            <a:endParaRPr lang="en-IN" sz="1400" dirty="0">
              <a:solidFill>
                <a:srgbClr val="F3F7FC"/>
              </a:solidFill>
              <a:latin typeface="Aptos"/>
            </a:endParaRPr>
          </a:p>
          <a:p>
            <a:pPr algn="ctr"/>
            <a:endParaRPr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1572768" y="331927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37D3FF"/>
                </a:solidFill>
                <a:latin typeface="Aptos"/>
              </a:rPr>
              <a:t>GRAPH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7552" y="3758183"/>
            <a:ext cx="0" cy="402337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4160520"/>
            <a:ext cx="50292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197096"/>
            <a:ext cx="393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142232"/>
            <a:ext cx="2743200" cy="566928"/>
          </a:xfrm>
          <a:prstGeom prst="roundRect">
            <a:avLst/>
          </a:prstGeom>
          <a:solidFill>
            <a:srgbClr val="131C2C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72768" y="4215383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040"/>
                </a:solidFill>
                <a:latin typeface="Aptos"/>
              </a:rP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158506"/>
            <a:ext cx="1463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3F7FC"/>
                </a:solidFill>
                <a:latin typeface="Aptos"/>
              </a:rPr>
              <a:t>Metrics + patterns + roles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552" y="4672583"/>
            <a:ext cx="0" cy="402337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" y="5074920"/>
            <a:ext cx="50292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111496"/>
            <a:ext cx="393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056632"/>
            <a:ext cx="2743200" cy="566928"/>
          </a:xfrm>
          <a:prstGeom prst="roundRect">
            <a:avLst/>
          </a:prstGeom>
          <a:solidFill>
            <a:srgbClr val="131C2C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72768" y="5129783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  <a:latin typeface="Aptos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084545"/>
            <a:ext cx="1463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3F7FC"/>
                </a:solidFill>
                <a:latin typeface="Aptos"/>
              </a:rPr>
              <a:t>HTML + FIR brief +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1467612"/>
            <a:ext cx="6812280" cy="4343400"/>
          </a:xfrm>
          <a:prstGeom prst="roundRect">
            <a:avLst/>
          </a:prstGeom>
          <a:solidFill>
            <a:srgbClr val="131C2C"/>
          </a:solidFill>
          <a:ln>
            <a:solidFill>
              <a:srgbClr val="13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691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D3FF"/>
                </a:solidFill>
                <a:latin typeface="Aptos"/>
              </a:rPr>
              <a:t>Core modules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2402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2402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Load source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75234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cfna/extract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75234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Entity + relation extraction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26440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2644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Evidence, metrics, patterns, risk, hierarchy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37764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cfna/graph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7764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Network representation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28853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28853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Interactive HTML + FIR-ready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80060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cfna/bob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8006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Bob integration / reasoning interface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2040" y="5285232"/>
            <a:ext cx="1783080" cy="347472"/>
          </a:xfrm>
          <a:prstGeom prst="roundRect">
            <a:avLst/>
          </a:prstGeom>
          <a:solidFill>
            <a:srgbClr val="090F1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7759" y="5312664"/>
            <a:ext cx="16916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Aptos"/>
              </a:rPr>
              <a:t>47-TEST UNIT SUITE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19379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3F7FC"/>
                </a:solidFill>
                <a:latin typeface="Aptos"/>
              </a:rPr>
              <a:t>3/3 generated trial cases pass end-to-end 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337148-8A6A-79A6-0E69-5FA6B09D7C13}"/>
              </a:ext>
            </a:extLst>
          </p:cNvPr>
          <p:cNvSpPr txBox="1"/>
          <p:nvPr/>
        </p:nvSpPr>
        <p:spPr>
          <a:xfrm>
            <a:off x="2310730" y="3253252"/>
            <a:ext cx="1889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0" dirty="0">
                <a:solidFill>
                  <a:srgbClr val="F3F7FC"/>
                </a:solidFill>
                <a:latin typeface="Aptos"/>
              </a:rPr>
              <a:t>Directed relationship </a:t>
            </a:r>
          </a:p>
          <a:p>
            <a:pPr algn="ctr"/>
            <a:r>
              <a:rPr lang="en-IN" sz="1400" dirty="0">
                <a:solidFill>
                  <a:srgbClr val="F3F7FC"/>
                </a:solidFill>
                <a:latin typeface="Aptos"/>
              </a:rPr>
              <a:t>Graph</a:t>
            </a:r>
            <a:endParaRPr lang="en-IN" sz="1400" b="0" dirty="0">
              <a:solidFill>
                <a:srgbClr val="F3F7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Demo / Key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The investigation report is the centerpiece: trace money, identities, devices and roles in one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7543800" cy="4526280"/>
          </a:xfrm>
          <a:prstGeom prst="roundRect">
            <a:avLst/>
          </a:prstGeom>
          <a:solidFill>
            <a:srgbClr val="0F1726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543800" cy="475488"/>
          </a:xfrm>
          <a:prstGeom prst="roundRect">
            <a:avLst/>
          </a:prstGeom>
          <a:solidFill>
            <a:srgbClr val="192537"/>
          </a:solidFill>
          <a:ln>
            <a:solidFill>
              <a:srgbClr val="192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3F7FC"/>
                </a:solidFill>
                <a:latin typeface="Aptos"/>
              </a:rPr>
              <a:t>CFNA Investigation Report  •  </a:t>
            </a:r>
            <a:r>
              <a:rPr sz="1300" b="1" dirty="0" err="1">
                <a:solidFill>
                  <a:srgbClr val="F3F7FC"/>
                </a:solidFill>
                <a:latin typeface="Aptos"/>
              </a:rPr>
              <a:t>Jamtara</a:t>
            </a:r>
            <a:r>
              <a:rPr sz="1300" b="1" dirty="0">
                <a:solidFill>
                  <a:srgbClr val="F3F7FC"/>
                </a:solidFill>
                <a:latin typeface="Aptos"/>
              </a:rPr>
              <a:t> SIM Swap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6892" y="4261104"/>
            <a:ext cx="685800" cy="347472"/>
          </a:xfrm>
          <a:prstGeom prst="roundRect">
            <a:avLst/>
          </a:prstGeom>
          <a:solidFill>
            <a:srgbClr val="090F1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1756" y="4325112"/>
            <a:ext cx="594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4ADE80"/>
                </a:solidFill>
                <a:latin typeface="Aptos"/>
              </a:rPr>
              <a:t>FIR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4148" y="3305556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229868" y="3355017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VICTIM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336292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3744" y="2390325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MULE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6774" y="1968246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959352" y="2004822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MULE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329018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58384" y="2368296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MULE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606040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4264" y="2642616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KINGPIN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3794760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833414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2332" y="4109812"/>
            <a:ext cx="914400" cy="502920"/>
          </a:xfrm>
          <a:prstGeom prst="roundRect">
            <a:avLst/>
          </a:prstGeom>
          <a:solidFill>
            <a:srgbClr val="19263B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97196" y="4151376"/>
            <a:ext cx="8046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3F7FC"/>
                </a:solidFill>
                <a:latin typeface="Aptos"/>
              </a:rPr>
              <a:t>PHONE</a:t>
            </a:r>
          </a:p>
        </p:txBody>
      </p:sp>
      <p:cxnSp>
        <p:nvCxnSpPr>
          <p:cNvPr id="23" name="Connector 22"/>
          <p:cNvCxnSpPr>
            <a:cxnSpLocks/>
            <a:stCxn id="9" idx="3"/>
            <a:endCxn id="11" idx="1"/>
          </p:cNvCxnSpPr>
          <p:nvPr/>
        </p:nvCxnSpPr>
        <p:spPr>
          <a:xfrm flipV="1">
            <a:off x="2098548" y="2587752"/>
            <a:ext cx="370332" cy="969264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11" idx="3"/>
            <a:endCxn id="13" idx="1"/>
          </p:cNvCxnSpPr>
          <p:nvPr/>
        </p:nvCxnSpPr>
        <p:spPr>
          <a:xfrm flipV="1">
            <a:off x="3383280" y="2219706"/>
            <a:ext cx="523494" cy="368046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3" idx="3"/>
            <a:endCxn id="15" idx="1"/>
          </p:cNvCxnSpPr>
          <p:nvPr/>
        </p:nvCxnSpPr>
        <p:spPr>
          <a:xfrm>
            <a:off x="4821174" y="2219706"/>
            <a:ext cx="482346" cy="360772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15" idx="3"/>
            <a:endCxn id="17" idx="1"/>
          </p:cNvCxnSpPr>
          <p:nvPr/>
        </p:nvCxnSpPr>
        <p:spPr>
          <a:xfrm>
            <a:off x="6217920" y="2580478"/>
            <a:ext cx="411480" cy="277022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11" idx="2"/>
            <a:endCxn id="19" idx="1"/>
          </p:cNvCxnSpPr>
          <p:nvPr/>
        </p:nvCxnSpPr>
        <p:spPr>
          <a:xfrm>
            <a:off x="2926080" y="2839212"/>
            <a:ext cx="448056" cy="1207008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15" idx="2"/>
            <a:endCxn id="21" idx="0"/>
          </p:cNvCxnSpPr>
          <p:nvPr/>
        </p:nvCxnSpPr>
        <p:spPr>
          <a:xfrm flipH="1">
            <a:off x="5399532" y="2831938"/>
            <a:ext cx="361188" cy="1277874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19" idx="3"/>
            <a:endCxn id="21" idx="1"/>
          </p:cNvCxnSpPr>
          <p:nvPr/>
        </p:nvCxnSpPr>
        <p:spPr>
          <a:xfrm>
            <a:off x="4288536" y="4046220"/>
            <a:ext cx="653796" cy="315052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52303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D3FF"/>
                </a:solidFill>
                <a:latin typeface="Aptos"/>
              </a:rPr>
              <a:t>Interactive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3036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Money flow  •  Calls  •  Shared devices  •  Account links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1325880"/>
            <a:ext cx="3154680" cy="4526280"/>
          </a:xfrm>
          <a:prstGeom prst="roundRect">
            <a:avLst/>
          </a:prstGeom>
          <a:solidFill>
            <a:srgbClr val="131C2C"/>
          </a:solidFill>
          <a:ln>
            <a:solidFill>
              <a:srgbClr val="13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0" y="164592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F3F7FC"/>
                </a:solidFill>
                <a:latin typeface="Aptos"/>
              </a:rPr>
              <a:t>What the investigator gets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42316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Fraud pattern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Probable Kingpin / Mule / Operator / Victim roles</a:t>
            </a:r>
          </a:p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Risk-ranked entity graph</a:t>
            </a:r>
          </a:p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Evidence-backed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12-section FIR-ready brief</a:t>
            </a:r>
          </a:p>
          <a:p>
            <a:pPr>
              <a:spcAft>
                <a:spcPts val="8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Recommended investigative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05</a:t>
            </a:r>
          </a:p>
        </p:txBody>
      </p:sp>
      <p:cxnSp>
        <p:nvCxnSpPr>
          <p:cNvPr id="37" name="Connector 27">
            <a:extLst>
              <a:ext uri="{FF2B5EF4-FFF2-40B4-BE49-F238E27FC236}">
                <a16:creationId xmlns:a16="http://schemas.microsoft.com/office/drawing/2014/main" id="{E3B12762-E5FF-9DE7-F6B6-53AE7FCB51C2}"/>
              </a:ext>
            </a:extLst>
          </p:cNvPr>
          <p:cNvCxnSpPr>
            <a:cxnSpLocks/>
            <a:stCxn id="7" idx="0"/>
            <a:endCxn id="17" idx="2"/>
          </p:cNvCxnSpPr>
          <p:nvPr/>
        </p:nvCxnSpPr>
        <p:spPr>
          <a:xfrm flipH="1" flipV="1">
            <a:off x="7086600" y="3108960"/>
            <a:ext cx="393192" cy="1152144"/>
          </a:xfrm>
          <a:prstGeom prst="line">
            <a:avLst/>
          </a:prstGeom>
          <a:ln w="254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IBM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IBM Bob is integrated at the reasoning layer; the current demo remains deterministic and self-contained.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657600" cy="4434840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" y="1789938"/>
            <a:ext cx="3108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37D3FF"/>
                </a:solidFill>
                <a:latin typeface="Aptos"/>
              </a:rPr>
              <a:t>Reasoning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00300"/>
            <a:ext cx="2971800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rPr sz="1700" dirty="0"/>
              <a:t>• Receives graph metrics, patterns and role assessments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rPr sz="1700" dirty="0"/>
              <a:t>• Produces / supports investigation reasoning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rPr sz="1700" dirty="0"/>
              <a:t>• Designed for Bob-backed analysis workflow</a:t>
            </a:r>
          </a:p>
          <a:p>
            <a:pPr>
              <a:spcAft>
                <a:spcPts val="900"/>
              </a:spcAft>
              <a:defRPr sz="1800">
                <a:solidFill>
                  <a:srgbClr val="F3F7FC"/>
                </a:solidFill>
                <a:latin typeface="Aptos"/>
              </a:defRPr>
            </a:pPr>
            <a:r>
              <a:rPr sz="1700" dirty="0"/>
              <a:t>• API endpoint is wired in the codebase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154680" cy="4434840"/>
          </a:xfrm>
          <a:prstGeom prst="roundRect">
            <a:avLst/>
          </a:prstGeom>
          <a:solidFill>
            <a:srgbClr val="131C2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A78BFA"/>
                </a:solidFill>
                <a:latin typeface="Aptos"/>
              </a:rPr>
              <a:t>Local intelligence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5146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Python standard library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Deterministic heuristics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Zero external calls in current analysis run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Reproducible trial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4434840"/>
          </a:xfrm>
          <a:prstGeom prst="roundRect">
            <a:avLst/>
          </a:prstGeom>
          <a:solidFill>
            <a:srgbClr val="131C2C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8993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ADE80"/>
                </a:solidFill>
                <a:latin typeface="Aptos"/>
              </a:rPr>
              <a:t>Judge-visible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53007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Interactive HTML network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FIR-ready Markdown brief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Network JSON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Case JSON</a:t>
            </a:r>
          </a:p>
          <a:p>
            <a:pPr>
              <a:spcAft>
                <a:spcPts val="900"/>
              </a:spcAft>
              <a:defRPr sz="1700">
                <a:solidFill>
                  <a:srgbClr val="F3F7FC"/>
                </a:solidFill>
                <a:latin typeface="Aptos"/>
              </a:defRPr>
            </a:pPr>
            <a:r>
              <a:rPr dirty="0"/>
              <a:t>• Actionable evidence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4280" y="5998464"/>
            <a:ext cx="2092960" cy="347472"/>
          </a:xfrm>
          <a:prstGeom prst="roundRect">
            <a:avLst/>
          </a:prstGeom>
          <a:solidFill>
            <a:srgbClr val="090F1B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8373" y="5987980"/>
            <a:ext cx="17847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BB040"/>
                </a:solidFill>
                <a:latin typeface="Aptos"/>
              </a:rPr>
              <a:t>CURRENT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Results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Success is measurable: the pipeline must connect evidence, reconstruct roles and produce usable case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87168" cy="1828800"/>
          </a:xfrm>
          <a:prstGeom prst="roundRect">
            <a:avLst/>
          </a:prstGeom>
          <a:solidFill>
            <a:srgbClr val="131C2C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128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4ADE80"/>
                </a:solidFill>
                <a:latin typeface="Aptos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3F7FC"/>
                </a:solidFill>
                <a:latin typeface="Aptos"/>
              </a:rPr>
              <a:t>trial cases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417320"/>
            <a:ext cx="2487168" cy="1828800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737360"/>
            <a:ext cx="22128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2800" b="1" dirty="0">
                <a:solidFill>
                  <a:srgbClr val="37D3FF"/>
                </a:solidFill>
                <a:latin typeface="Aptos"/>
              </a:rPr>
              <a:t>76</a:t>
            </a:r>
            <a:endParaRPr sz="2800" b="1" dirty="0">
              <a:solidFill>
                <a:srgbClr val="37D3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30168" y="242316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7FC"/>
                </a:solidFill>
                <a:latin typeface="Aptos"/>
              </a:rPr>
              <a:t>unit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417320"/>
            <a:ext cx="2487168" cy="1828800"/>
          </a:xfrm>
          <a:prstGeom prst="roundRect">
            <a:avLst/>
          </a:prstGeom>
          <a:solidFill>
            <a:srgbClr val="131C2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1737360"/>
            <a:ext cx="22128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A78BFA"/>
                </a:solidFill>
                <a:latin typeface="Aptos"/>
              </a:rPr>
              <a:t>PERFECT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42316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7FC"/>
                </a:solidFill>
                <a:latin typeface="Aptos"/>
              </a:rPr>
              <a:t>kingpin / mule / victim F1 on trial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1417320"/>
            <a:ext cx="2487168" cy="1828800"/>
          </a:xfrm>
          <a:prstGeom prst="roundRect">
            <a:avLst/>
          </a:prstGeom>
          <a:solidFill>
            <a:srgbClr val="131C2C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0304" y="1737360"/>
            <a:ext cx="22128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BB040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6024" y="2423160"/>
            <a:ext cx="2121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7FC"/>
                </a:solidFill>
                <a:latin typeface="Aptos"/>
              </a:rPr>
              <a:t>exported artifacts per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10972800" cy="2267712"/>
          </a:xfrm>
          <a:prstGeom prst="roundRect">
            <a:avLst/>
          </a:prstGeom>
          <a:solidFill>
            <a:srgbClr val="131C2C"/>
          </a:solidFill>
          <a:ln>
            <a:solidFill>
              <a:srgbClr val="13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913632"/>
            <a:ext cx="2761488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F3F7FC"/>
                </a:solidFill>
                <a:latin typeface="Aptos"/>
              </a:rPr>
              <a:t>Operational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07408"/>
            <a:ext cx="10287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Correlates fragmented intelligence into a single investigation graph.</a:t>
            </a:r>
          </a:p>
          <a:p>
            <a:pPr>
              <a:spcAft>
                <a:spcPts val="7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Surfaces probable fraud patterns and network roles instead of isolated alerts.</a:t>
            </a:r>
          </a:p>
          <a:p>
            <a:pPr>
              <a:spcAft>
                <a:spcPts val="7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Produces an interactive report plus FIR-ready case brief for investigator review.</a:t>
            </a:r>
          </a:p>
          <a:p>
            <a:pPr>
              <a:spcAft>
                <a:spcPts val="7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dirty="0"/>
              <a:t>• Current scope is synthetic/mock intelligence; live banking/telecom feeds are not connected.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C"/>
                </a:solidFill>
                <a:latin typeface="Aptos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7CD"/>
                </a:solidFill>
                <a:latin typeface="Aptos"/>
              </a:rPr>
              <a:t>Four-person build team with the project split across investigation logic, engineering and presentation.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871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78308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D3FF"/>
                </a:solidFill>
                <a:latin typeface="Aptos"/>
              </a:rPr>
              <a:t>PREETANSH GOHIL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146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7FC"/>
                </a:solidFill>
                <a:latin typeface="Aptos"/>
              </a:rPr>
              <a:t>Team Lead /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246120"/>
            <a:ext cx="2084831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B7CD"/>
                </a:solidFill>
                <a:latin typeface="Aptos"/>
              </a:rPr>
              <a:t>Overall pipeline, case flow,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17320"/>
            <a:ext cx="24871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78308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78BFA"/>
                </a:solidFill>
                <a:latin typeface="Aptos"/>
              </a:rPr>
              <a:t>JWALAN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7FC"/>
                </a:solidFill>
                <a:latin typeface="Aptos"/>
              </a:rPr>
              <a:t>Investigation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3246120"/>
            <a:ext cx="2084831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B7CD"/>
                </a:solidFill>
                <a:latin typeface="Aptos"/>
              </a:rPr>
              <a:t>Data / relationship analysis and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417320"/>
            <a:ext cx="24871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ADE80"/>
                </a:solidFill>
                <a:latin typeface="Aptos"/>
              </a:rPr>
              <a:t>HARSHIT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5146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7FC"/>
                </a:solidFill>
                <a:latin typeface="Aptos"/>
              </a:rPr>
              <a:t>Engineering /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3246120"/>
            <a:ext cx="2084831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B7CD"/>
                </a:solidFill>
                <a:latin typeface="Aptos"/>
              </a:rPr>
              <a:t>Pipeline, reporting and presentation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1417320"/>
            <a:ext cx="2487168" cy="4160520"/>
          </a:xfrm>
          <a:prstGeom prst="roundRect">
            <a:avLst/>
          </a:prstGeom>
          <a:solidFill>
            <a:srgbClr val="131C2C"/>
          </a:solidFill>
          <a:ln>
            <a:solidFill>
              <a:srgbClr val="FB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9448" y="178308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BB040"/>
                </a:solidFill>
                <a:latin typeface="Aptos"/>
              </a:rPr>
              <a:t>VAIBHAV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5146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7FC"/>
                </a:solidFill>
                <a:latin typeface="Aptos"/>
              </a:rPr>
              <a:t>Testing /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3246120"/>
            <a:ext cx="2084831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B7CD"/>
                </a:solidFill>
                <a:latin typeface="Aptos"/>
              </a:rPr>
              <a:t>Trial cases, validation and demo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37D3FF"/>
                </a:solidFill>
                <a:latin typeface="Aptos"/>
              </a:rPr>
              <a:t>Repository: github.com/</a:t>
            </a:r>
            <a:r>
              <a:rPr sz="1500" b="1" dirty="0" err="1">
                <a:solidFill>
                  <a:srgbClr val="37D3FF"/>
                </a:solidFill>
                <a:latin typeface="Aptos"/>
              </a:rPr>
              <a:t>harshitpatilx</a:t>
            </a:r>
            <a:r>
              <a:rPr sz="1500" b="1" dirty="0">
                <a:solidFill>
                  <a:srgbClr val="37D3FF"/>
                </a:solidFill>
                <a:latin typeface="Aptos"/>
              </a:rPr>
              <a:t>/bob-ai-hackathon-cipher-matrix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D"/>
                </a:solidFill>
                <a:latin typeface="Aptos"/>
              </a:rPr>
              <a:t>CIPHER MATRIX  •  CYBER FRAUD NETWORK ANALYSER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3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713</Words>
  <Application>Microsoft Office PowerPoint</Application>
  <PresentationFormat>Widescreen</PresentationFormat>
  <Paragraphs>174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Tipsky</dc:creator>
  <cp:keywords/>
  <dc:description>generated using python-pptx</dc:description>
  <cp:lastModifiedBy>Vaibhav Tailor</cp:lastModifiedBy>
  <cp:revision>4</cp:revision>
  <dcterms:created xsi:type="dcterms:W3CDTF">2013-01-27T09:14:16Z</dcterms:created>
  <dcterms:modified xsi:type="dcterms:W3CDTF">2026-09-28T10:00:59Z</dcterms:modified>
  <cp:category/>
</cp:coreProperties>
</file>